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68" r:id="rId4"/>
    <p:sldId id="259" r:id="rId5"/>
    <p:sldId id="266" r:id="rId6"/>
    <p:sldId id="267" r:id="rId7"/>
    <p:sldId id="274" r:id="rId8"/>
    <p:sldId id="273" r:id="rId9"/>
    <p:sldId id="269" r:id="rId10"/>
    <p:sldId id="270" r:id="rId11"/>
    <p:sldId id="272" r:id="rId12"/>
    <p:sldId id="271" r:id="rId13"/>
    <p:sldId id="275" r:id="rId14"/>
    <p:sldId id="260" r:id="rId15"/>
    <p:sldId id="261" r:id="rId16"/>
    <p:sldId id="262" r:id="rId17"/>
    <p:sldId id="263" r:id="rId18"/>
    <p:sldId id="264" r:id="rId19"/>
    <p:sldId id="265" r:id="rId20"/>
    <p:sldId id="27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94660"/>
  </p:normalViewPr>
  <p:slideViewPr>
    <p:cSldViewPr snapToGrid="0">
      <p:cViewPr varScale="1">
        <p:scale>
          <a:sx n="83" d="100"/>
          <a:sy n="83" d="100"/>
        </p:scale>
        <p:origin x="390"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theme" Target="theme/theme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viewProps" Target="viewProps.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presProps" Target="pres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11/25/2025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dirty="0"/>
              <a:t>11/25/2025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dirty="0"/>
              <a:t>11/25/2025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11/25/2025</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11/25/2025</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11/25/2025</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11/25/2025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11/25/2025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11/25/2025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11/25/2025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21" Type="http://schemas.openxmlformats.org/officeDocument/2006/relationships/image" Target="../media/image4.png"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20" Type="http://schemas.openxmlformats.org/officeDocument/2006/relationships/image" Target="../media/image3.png"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2.pn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 Id="rId22" Type="http://schemas.openxmlformats.org/officeDocument/2006/relationships/image" Target="../media/image5.png"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509A250-FF31-4206-8172-F9D3106AACB1}" type="datetimeFigureOut">
              <a:rPr lang="en-US" dirty="0"/>
              <a:t>11/25/2025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dvisionit.com/tenable-nessus-scanner" TargetMode="External" /><Relationship Id="rId2" Type="http://schemas.openxmlformats.org/officeDocument/2006/relationships/image" Target="../media/image6.pn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image" Target="../media/image8.pn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image" Target="../media/image9.pn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image" Target="../media/image10.png"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image" Target="../media/image11.pn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0AB78-F8B5-79B4-EA65-EC1E2B566263}"/>
              </a:ext>
            </a:extLst>
          </p:cNvPr>
          <p:cNvSpPr>
            <a:spLocks noGrp="1"/>
          </p:cNvSpPr>
          <p:nvPr>
            <p:ph type="ctrTitle"/>
          </p:nvPr>
        </p:nvSpPr>
        <p:spPr>
          <a:xfrm>
            <a:off x="1154955" y="1447800"/>
            <a:ext cx="8825658" cy="1191883"/>
          </a:xfrm>
        </p:spPr>
        <p:txBody>
          <a:bodyPr/>
          <a:lstStyle/>
          <a:p>
            <a:r>
              <a:rPr lang="en-US" b="1" u="sng" dirty="0"/>
              <a:t>Nessus</a:t>
            </a:r>
            <a:endParaRPr lang="en-IN" b="1" u="sng" dirty="0"/>
          </a:p>
        </p:txBody>
      </p:sp>
      <p:sp>
        <p:nvSpPr>
          <p:cNvPr id="3" name="Subtitle 2">
            <a:extLst>
              <a:ext uri="{FF2B5EF4-FFF2-40B4-BE49-F238E27FC236}">
                <a16:creationId xmlns:a16="http://schemas.microsoft.com/office/drawing/2014/main" id="{2406B15D-635B-64A2-922D-BEC983370142}"/>
              </a:ext>
            </a:extLst>
          </p:cNvPr>
          <p:cNvSpPr>
            <a:spLocks noGrp="1"/>
          </p:cNvSpPr>
          <p:nvPr>
            <p:ph type="subTitle" idx="1"/>
          </p:nvPr>
        </p:nvSpPr>
        <p:spPr>
          <a:xfrm>
            <a:off x="1154955" y="2823713"/>
            <a:ext cx="8825658" cy="605287"/>
          </a:xfrm>
        </p:spPr>
        <p:txBody>
          <a:bodyPr/>
          <a:lstStyle/>
          <a:p>
            <a:r>
              <a:rPr lang="en-IN" dirty="0"/>
              <a:t> </a:t>
            </a:r>
            <a:r>
              <a:rPr lang="en-IN" b="1" u="sng" dirty="0"/>
              <a:t>Network Vulnerability Scanner</a:t>
            </a:r>
          </a:p>
        </p:txBody>
      </p:sp>
      <p:pic>
        <p:nvPicPr>
          <p:cNvPr id="5" name="Picture 4">
            <a:extLst>
              <a:ext uri="{FF2B5EF4-FFF2-40B4-BE49-F238E27FC236}">
                <a16:creationId xmlns:a16="http://schemas.microsoft.com/office/drawing/2014/main" id="{581797B6-1548-FEB6-4257-D31A4E7FEA9D}"/>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rot="155947">
            <a:off x="5963728" y="1447800"/>
            <a:ext cx="5152846" cy="3249953"/>
          </a:xfrm>
          <a:prstGeom prst="rect">
            <a:avLst/>
          </a:prstGeom>
        </p:spPr>
      </p:pic>
    </p:spTree>
    <p:extLst>
      <p:ext uri="{BB962C8B-B14F-4D97-AF65-F5344CB8AC3E}">
        <p14:creationId xmlns:p14="http://schemas.microsoft.com/office/powerpoint/2010/main" val="27054420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1C093-4CF1-C3FD-729A-C5C652BE7476}"/>
              </a:ext>
            </a:extLst>
          </p:cNvPr>
          <p:cNvSpPr>
            <a:spLocks noGrp="1"/>
          </p:cNvSpPr>
          <p:nvPr>
            <p:ph type="title"/>
          </p:nvPr>
        </p:nvSpPr>
        <p:spPr/>
        <p:txBody>
          <a:bodyPr/>
          <a:lstStyle/>
          <a:p>
            <a:r>
              <a:rPr lang="en-US" b="1" u="sng" dirty="0"/>
              <a:t>Introduction</a:t>
            </a:r>
            <a:endParaRPr lang="en-IN" b="1" u="sng" dirty="0"/>
          </a:p>
        </p:txBody>
      </p:sp>
      <p:sp>
        <p:nvSpPr>
          <p:cNvPr id="3" name="Content Placeholder 2">
            <a:extLst>
              <a:ext uri="{FF2B5EF4-FFF2-40B4-BE49-F238E27FC236}">
                <a16:creationId xmlns:a16="http://schemas.microsoft.com/office/drawing/2014/main" id="{9687E821-D4F0-401E-18CD-ECB27E4C7C3B}"/>
              </a:ext>
            </a:extLst>
          </p:cNvPr>
          <p:cNvSpPr>
            <a:spLocks noGrp="1"/>
          </p:cNvSpPr>
          <p:nvPr>
            <p:ph idx="1"/>
          </p:nvPr>
        </p:nvSpPr>
        <p:spPr>
          <a:xfrm>
            <a:off x="1103312" y="1593012"/>
            <a:ext cx="8946541" cy="4655388"/>
          </a:xfrm>
        </p:spPr>
        <p:txBody>
          <a:bodyPr>
            <a:normAutofit/>
          </a:bodyPr>
          <a:lstStyle/>
          <a:p>
            <a:r>
              <a:rPr lang="en-US" sz="2400" dirty="0"/>
              <a:t>Nessus is a widely-used vulnerability assessment tool that helps organizations identify and prioritize security vulnerabilities within their IT infrastructure. With its extensive capabilities and user-friendly interface, Nessus plays a crucial role in strengthening cyber security defenses and reducing the risk of data breaches and cyberattacks.</a:t>
            </a:r>
            <a:endParaRPr lang="en-IN" sz="2400" dirty="0"/>
          </a:p>
        </p:txBody>
      </p:sp>
    </p:spTree>
    <p:extLst>
      <p:ext uri="{BB962C8B-B14F-4D97-AF65-F5344CB8AC3E}">
        <p14:creationId xmlns:p14="http://schemas.microsoft.com/office/powerpoint/2010/main" val="3424882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807A9-E0DB-BDB9-46F8-912987035BF6}"/>
              </a:ext>
            </a:extLst>
          </p:cNvPr>
          <p:cNvSpPr>
            <a:spLocks noGrp="1"/>
          </p:cNvSpPr>
          <p:nvPr>
            <p:ph type="title"/>
          </p:nvPr>
        </p:nvSpPr>
        <p:spPr/>
        <p:txBody>
          <a:bodyPr/>
          <a:lstStyle/>
          <a:p>
            <a:r>
              <a:rPr lang="en-US" b="1" u="sng" dirty="0"/>
              <a:t>Introduction</a:t>
            </a:r>
            <a:endParaRPr lang="en-IN" b="1" u="sng" dirty="0"/>
          </a:p>
        </p:txBody>
      </p:sp>
      <p:sp>
        <p:nvSpPr>
          <p:cNvPr id="3" name="Content Placeholder 2">
            <a:extLst>
              <a:ext uri="{FF2B5EF4-FFF2-40B4-BE49-F238E27FC236}">
                <a16:creationId xmlns:a16="http://schemas.microsoft.com/office/drawing/2014/main" id="{49F526C1-05ED-E26A-1509-AED0411D545A}"/>
              </a:ext>
            </a:extLst>
          </p:cNvPr>
          <p:cNvSpPr>
            <a:spLocks noGrp="1"/>
          </p:cNvSpPr>
          <p:nvPr>
            <p:ph idx="1"/>
          </p:nvPr>
        </p:nvSpPr>
        <p:spPr>
          <a:xfrm>
            <a:off x="925902" y="1853248"/>
            <a:ext cx="10368951" cy="4395152"/>
          </a:xfrm>
        </p:spPr>
        <p:txBody>
          <a:bodyPr/>
          <a:lstStyle/>
          <a:p>
            <a:pPr marL="0" indent="0">
              <a:buNone/>
            </a:pPr>
            <a:r>
              <a:rPr lang="en-US" dirty="0"/>
              <a:t> </a:t>
            </a:r>
          </a:p>
          <a:p>
            <a:endParaRPr lang="en-IN" dirty="0"/>
          </a:p>
        </p:txBody>
      </p:sp>
      <p:sp>
        <p:nvSpPr>
          <p:cNvPr id="6" name="Rectangle 3">
            <a:extLst>
              <a:ext uri="{FF2B5EF4-FFF2-40B4-BE49-F238E27FC236}">
                <a16:creationId xmlns:a16="http://schemas.microsoft.com/office/drawing/2014/main" id="{30B0A1DE-6421-FE54-8421-53AC88E89D0E}"/>
              </a:ext>
            </a:extLst>
          </p:cNvPr>
          <p:cNvSpPr>
            <a:spLocks noChangeArrowheads="1"/>
          </p:cNvSpPr>
          <p:nvPr/>
        </p:nvSpPr>
        <p:spPr bwMode="auto">
          <a:xfrm>
            <a:off x="646111" y="-5497802"/>
            <a:ext cx="10096034" cy="9971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 Founded by </a:t>
            </a:r>
            <a:r>
              <a:rPr kumimoji="0" lang="en-US" altLang="en-US" sz="2200" b="0" i="0" u="none" strike="noStrike" cap="none" normalizeH="0" baseline="0" dirty="0" err="1">
                <a:ln>
                  <a:noFill/>
                </a:ln>
                <a:effectLst/>
                <a:latin typeface="Arial" panose="020B0604020202020204" pitchFamily="34" charset="0"/>
              </a:rPr>
              <a:t>Renuad</a:t>
            </a:r>
            <a:r>
              <a:rPr kumimoji="0" lang="en-US" altLang="en-US" sz="2200" b="0" i="0" u="none" strike="noStrike" cap="none" normalizeH="0" baseline="0" dirty="0">
                <a:ln>
                  <a:noFill/>
                </a:ln>
                <a:effectLst/>
                <a:latin typeface="Arial" panose="020B0604020202020204" pitchFamily="34" charset="0"/>
              </a:rPr>
              <a:t> </a:t>
            </a:r>
            <a:r>
              <a:rPr kumimoji="0" lang="en-US" altLang="en-US" sz="2200" b="0" i="0" u="none" strike="noStrike" cap="none" normalizeH="0" baseline="0" dirty="0" err="1">
                <a:ln>
                  <a:noFill/>
                </a:ln>
                <a:effectLst/>
                <a:latin typeface="Arial" panose="020B0604020202020204" pitchFamily="34" charset="0"/>
              </a:rPr>
              <a:t>Deraison</a:t>
            </a:r>
            <a:r>
              <a:rPr kumimoji="0" lang="en-US" altLang="en-US" sz="2200" b="0" i="0" u="none" strike="noStrike" cap="none" normalizeH="0" baseline="0" dirty="0">
                <a:ln>
                  <a:noFill/>
                </a:ln>
                <a:effectLst/>
                <a:latin typeface="Arial" panose="020B0604020202020204" pitchFamily="34" charset="0"/>
              </a:rPr>
              <a:t> </a:t>
            </a:r>
            <a:r>
              <a:rPr kumimoji="0" lang="en-US" altLang="en-US" sz="2200" b="0" i="0" u="none" strike="noStrike" cap="none" normalizeH="0" baseline="0" dirty="0">
                <a:ln>
                  <a:noFill/>
                </a:ln>
                <a:solidFill>
                  <a:schemeClr val="tx1"/>
                </a:solidFill>
                <a:effectLst/>
                <a:latin typeface="Arial" panose="020B0604020202020204" pitchFamily="34" charset="0"/>
              </a:rPr>
              <a:t>in 1998 to offer a free remote security scanner.</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 Functions as a vulnerability scanner to detect system weaknesses.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 Supports multiple operating systems: Windows, Linux, and Mac.</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 Uses a web interface for installation, scanning, and reporting.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 Identifies vulnerabilities that enable remote attackers to access sensitive data.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18444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CDB31-D1B1-D696-C92C-3B20A63D6932}"/>
              </a:ext>
            </a:extLst>
          </p:cNvPr>
          <p:cNvSpPr>
            <a:spLocks noGrp="1"/>
          </p:cNvSpPr>
          <p:nvPr>
            <p:ph type="title"/>
          </p:nvPr>
        </p:nvSpPr>
        <p:spPr/>
        <p:txBody>
          <a:bodyPr/>
          <a:lstStyle/>
          <a:p>
            <a:r>
              <a:rPr lang="en-US" b="1" u="sng" dirty="0"/>
              <a:t>Problem Statement</a:t>
            </a:r>
            <a:endParaRPr lang="en-IN" b="1" u="sng" dirty="0"/>
          </a:p>
        </p:txBody>
      </p:sp>
      <p:sp>
        <p:nvSpPr>
          <p:cNvPr id="3" name="Content Placeholder 2">
            <a:extLst>
              <a:ext uri="{FF2B5EF4-FFF2-40B4-BE49-F238E27FC236}">
                <a16:creationId xmlns:a16="http://schemas.microsoft.com/office/drawing/2014/main" id="{9D2B2EF0-75EA-6BD8-C558-D68046C653FA}"/>
              </a:ext>
            </a:extLst>
          </p:cNvPr>
          <p:cNvSpPr>
            <a:spLocks noGrp="1"/>
          </p:cNvSpPr>
          <p:nvPr>
            <p:ph idx="1"/>
          </p:nvPr>
        </p:nvSpPr>
        <p:spPr>
          <a:xfrm>
            <a:off x="1103312" y="1702280"/>
            <a:ext cx="8946541" cy="4546120"/>
          </a:xfrm>
        </p:spPr>
        <p:txBody>
          <a:bodyPr>
            <a:normAutofit/>
          </a:bodyPr>
          <a:lstStyle/>
          <a:p>
            <a:r>
              <a:rPr lang="en-US" sz="2400" dirty="0"/>
              <a:t>Organizations face numerous challenges in managing and mitigating security vulnerabilities, including: Identifying vulnerabilities across a diverse and dynamic IT environment, including servers, endpoints, and network devices. Prioritizing remediation efforts based on the severity and potential impact of vulnerabilities. Demonstrating compliance with regulatory requirements and industry standards such as PCI DSS, HIPAA, and CIS benchmarks.</a:t>
            </a:r>
            <a:endParaRPr lang="en-IN" sz="2400" dirty="0"/>
          </a:p>
        </p:txBody>
      </p:sp>
    </p:spTree>
    <p:extLst>
      <p:ext uri="{BB962C8B-B14F-4D97-AF65-F5344CB8AC3E}">
        <p14:creationId xmlns:p14="http://schemas.microsoft.com/office/powerpoint/2010/main" val="4014061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919CE-1CF5-2529-C33C-4C9F8F8A79D8}"/>
              </a:ext>
            </a:extLst>
          </p:cNvPr>
          <p:cNvSpPr>
            <a:spLocks noGrp="1"/>
          </p:cNvSpPr>
          <p:nvPr>
            <p:ph type="title"/>
          </p:nvPr>
        </p:nvSpPr>
        <p:spPr/>
        <p:txBody>
          <a:bodyPr/>
          <a:lstStyle/>
          <a:p>
            <a:r>
              <a:rPr lang="en-US" b="1" u="sng" dirty="0"/>
              <a:t>Hardware Requirement</a:t>
            </a:r>
            <a:endParaRPr lang="en-IN" b="1" u="sng" dirty="0"/>
          </a:p>
        </p:txBody>
      </p:sp>
      <p:sp>
        <p:nvSpPr>
          <p:cNvPr id="6" name="Rectangle 3">
            <a:extLst>
              <a:ext uri="{FF2B5EF4-FFF2-40B4-BE49-F238E27FC236}">
                <a16:creationId xmlns:a16="http://schemas.microsoft.com/office/drawing/2014/main" id="{EC33BB93-323A-7A74-9409-19B684B1830B}"/>
              </a:ext>
            </a:extLst>
          </p:cNvPr>
          <p:cNvSpPr>
            <a:spLocks noGrp="1" noChangeArrowheads="1"/>
          </p:cNvSpPr>
          <p:nvPr>
            <p:ph idx="1"/>
          </p:nvPr>
        </p:nvSpPr>
        <p:spPr bwMode="auto">
          <a:xfrm>
            <a:off x="988293" y="366626"/>
            <a:ext cx="6712220"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sng" strike="noStrike" cap="none" normalizeH="0" baseline="0" dirty="0">
                <a:ln>
                  <a:noFill/>
                </a:ln>
                <a:solidFill>
                  <a:schemeClr val="tx1"/>
                </a:solidFill>
                <a:effectLst/>
                <a:latin typeface="Arial" panose="020B0604020202020204" pitchFamily="34" charset="0"/>
              </a:rPr>
              <a:t>Hardware Requirements for Nessus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Up to 50,000 hosts: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CPU: 1 dual-core 2 GHz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RAM: 2 GB (4 GB recommended)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Disk: 30 GB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Over 50,000 hosts: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CPU: 1 dual-core 2 GHz (2 dual-core recommended)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RAM: 2 GB (8 GB recommended)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Disk: 30 GB (more space may be needed for reports)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76540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1240C-5A37-1D95-5B83-B11332B5D97E}"/>
              </a:ext>
            </a:extLst>
          </p:cNvPr>
          <p:cNvSpPr>
            <a:spLocks noGrp="1"/>
          </p:cNvSpPr>
          <p:nvPr>
            <p:ph type="title"/>
          </p:nvPr>
        </p:nvSpPr>
        <p:spPr/>
        <p:txBody>
          <a:bodyPr/>
          <a:lstStyle/>
          <a:p>
            <a:r>
              <a:rPr lang="en-US" b="1" u="sng" dirty="0"/>
              <a:t>Download &amp; Installation</a:t>
            </a:r>
            <a:endParaRPr lang="en-IN" b="1" u="sng" dirty="0"/>
          </a:p>
        </p:txBody>
      </p:sp>
      <p:sp>
        <p:nvSpPr>
          <p:cNvPr id="3" name="Content Placeholder 2">
            <a:extLst>
              <a:ext uri="{FF2B5EF4-FFF2-40B4-BE49-F238E27FC236}">
                <a16:creationId xmlns:a16="http://schemas.microsoft.com/office/drawing/2014/main" id="{BBAF6A17-67E2-B16E-9D51-169E8F2110A2}"/>
              </a:ext>
            </a:extLst>
          </p:cNvPr>
          <p:cNvSpPr>
            <a:spLocks noGrp="1"/>
          </p:cNvSpPr>
          <p:nvPr>
            <p:ph idx="1"/>
          </p:nvPr>
        </p:nvSpPr>
        <p:spPr>
          <a:xfrm>
            <a:off x="1103312" y="1552756"/>
            <a:ext cx="8946541" cy="4479984"/>
          </a:xfrm>
        </p:spPr>
        <p:txBody>
          <a:bodyPr>
            <a:normAutofit/>
          </a:bodyPr>
          <a:lstStyle/>
          <a:p>
            <a:r>
              <a:rPr lang="en-US" dirty="0"/>
              <a:t>Download Nessus Professional from </a:t>
            </a:r>
            <a:r>
              <a:rPr lang="en-US" u="sng" dirty="0"/>
              <a:t>https://www.tenable.com/products/nessus/nessus-professional</a:t>
            </a:r>
          </a:p>
          <a:p>
            <a:r>
              <a:rPr lang="en-US" dirty="0"/>
              <a:t>Register at </a:t>
            </a:r>
            <a:r>
              <a:rPr lang="en-US" u="sng" dirty="0"/>
              <a:t>https://www.tenable.com/products/nessus/activation-code</a:t>
            </a:r>
          </a:p>
          <a:p>
            <a:r>
              <a:rPr lang="en-US" dirty="0"/>
              <a:t>Install the Nessus tool</a:t>
            </a:r>
          </a:p>
          <a:p>
            <a:r>
              <a:rPr lang="en-US" dirty="0"/>
              <a:t>Open Nessus in your browser at </a:t>
            </a:r>
            <a:r>
              <a:rPr lang="en-US" u="sng" dirty="0"/>
              <a:t>http://localhost:8834</a:t>
            </a:r>
            <a:r>
              <a:rPr lang="en-US" b="1" u="sng" dirty="0"/>
              <a:t>/</a:t>
            </a:r>
            <a:r>
              <a:rPr lang="en-US" u="sng" dirty="0"/>
              <a:t>WelcomeToNessus-Install/welcome</a:t>
            </a:r>
          </a:p>
          <a:p>
            <a:r>
              <a:rPr lang="en-US" dirty="0"/>
              <a:t>Create an account and enter the activation code</a:t>
            </a:r>
          </a:p>
          <a:p>
            <a:r>
              <a:rPr lang="en-US" dirty="0"/>
              <a:t>Download necessary plugins</a:t>
            </a:r>
          </a:p>
          <a:p>
            <a:r>
              <a:rPr lang="en-US" dirty="0"/>
              <a:t>After installation, log in with your credentials on the redirected login page</a:t>
            </a:r>
          </a:p>
          <a:p>
            <a:pPr marL="0" indent="0">
              <a:buNone/>
            </a:pPr>
            <a:endParaRPr lang="en-IN" dirty="0"/>
          </a:p>
        </p:txBody>
      </p:sp>
    </p:spTree>
    <p:extLst>
      <p:ext uri="{BB962C8B-B14F-4D97-AF65-F5344CB8AC3E}">
        <p14:creationId xmlns:p14="http://schemas.microsoft.com/office/powerpoint/2010/main" val="777206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ED691-8C19-783A-C614-6ADC13A5DF43}"/>
              </a:ext>
            </a:extLst>
          </p:cNvPr>
          <p:cNvSpPr>
            <a:spLocks noGrp="1"/>
          </p:cNvSpPr>
          <p:nvPr>
            <p:ph type="title"/>
          </p:nvPr>
        </p:nvSpPr>
        <p:spPr/>
        <p:txBody>
          <a:bodyPr/>
          <a:lstStyle/>
          <a:p>
            <a:r>
              <a:rPr lang="en-US" b="1" u="sng" dirty="0"/>
              <a:t>Key Functions</a:t>
            </a:r>
            <a:endParaRPr lang="en-IN" b="1" u="sng" dirty="0"/>
          </a:p>
        </p:txBody>
      </p:sp>
      <p:sp>
        <p:nvSpPr>
          <p:cNvPr id="4" name="Rectangle 1">
            <a:extLst>
              <a:ext uri="{FF2B5EF4-FFF2-40B4-BE49-F238E27FC236}">
                <a16:creationId xmlns:a16="http://schemas.microsoft.com/office/drawing/2014/main" id="{91D8C8CE-5545-D145-C2AE-4CF0E3A17B02}"/>
              </a:ext>
            </a:extLst>
          </p:cNvPr>
          <p:cNvSpPr>
            <a:spLocks noGrp="1" noChangeArrowheads="1"/>
          </p:cNvSpPr>
          <p:nvPr>
            <p:ph idx="1"/>
          </p:nvPr>
        </p:nvSpPr>
        <p:spPr bwMode="auto">
          <a:xfrm>
            <a:off x="1005546" y="1442471"/>
            <a:ext cx="664896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Network Scanning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Malware Detection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Mobile Security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Host Discovery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Policy Review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DROWN Detection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PCI External Scan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092746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D1050-8F01-111C-38D5-CAF6C82A4591}"/>
              </a:ext>
            </a:extLst>
          </p:cNvPr>
          <p:cNvSpPr>
            <a:spLocks noGrp="1"/>
          </p:cNvSpPr>
          <p:nvPr>
            <p:ph type="title"/>
          </p:nvPr>
        </p:nvSpPr>
        <p:spPr>
          <a:xfrm>
            <a:off x="646111" y="452718"/>
            <a:ext cx="9404723" cy="1008022"/>
          </a:xfrm>
        </p:spPr>
        <p:txBody>
          <a:bodyPr/>
          <a:lstStyle/>
          <a:p>
            <a:r>
              <a:rPr lang="en-US" b="1" u="sng" dirty="0"/>
              <a:t>Scanning Process</a:t>
            </a:r>
            <a:br>
              <a:rPr lang="en-US" b="1" u="sng" dirty="0"/>
            </a:br>
            <a:br>
              <a:rPr lang="en-US" b="1" u="sng" dirty="0"/>
            </a:br>
            <a:r>
              <a:rPr lang="en-US" sz="2200" b="1" dirty="0"/>
              <a:t>Click on new scan to start the vulnerability scan. </a:t>
            </a:r>
            <a:endParaRPr lang="en-IN" sz="2200" b="1" u="sng" dirty="0"/>
          </a:p>
        </p:txBody>
      </p:sp>
      <p:pic>
        <p:nvPicPr>
          <p:cNvPr id="5" name="Content Placeholder 4">
            <a:extLst>
              <a:ext uri="{FF2B5EF4-FFF2-40B4-BE49-F238E27FC236}">
                <a16:creationId xmlns:a16="http://schemas.microsoft.com/office/drawing/2014/main" id="{0E6A0F37-603A-9376-2FCA-6922B9A42638}"/>
              </a:ext>
            </a:extLst>
          </p:cNvPr>
          <p:cNvPicPr>
            <a:picLocks noGrp="1" noChangeAspect="1"/>
          </p:cNvPicPr>
          <p:nvPr>
            <p:ph idx="1"/>
          </p:nvPr>
        </p:nvPicPr>
        <p:blipFill>
          <a:blip r:embed="rId2"/>
          <a:stretch>
            <a:fillRect/>
          </a:stretch>
        </p:blipFill>
        <p:spPr>
          <a:xfrm>
            <a:off x="1103313" y="2340267"/>
            <a:ext cx="8947150" cy="3620503"/>
          </a:xfrm>
        </p:spPr>
      </p:pic>
    </p:spTree>
    <p:extLst>
      <p:ext uri="{BB962C8B-B14F-4D97-AF65-F5344CB8AC3E}">
        <p14:creationId xmlns:p14="http://schemas.microsoft.com/office/powerpoint/2010/main" val="18610179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7F600-A288-6E66-CD32-5D2E1A52C0FF}"/>
              </a:ext>
            </a:extLst>
          </p:cNvPr>
          <p:cNvSpPr>
            <a:spLocks noGrp="1"/>
          </p:cNvSpPr>
          <p:nvPr>
            <p:ph type="title"/>
          </p:nvPr>
        </p:nvSpPr>
        <p:spPr/>
        <p:txBody>
          <a:bodyPr/>
          <a:lstStyle/>
          <a:p>
            <a:r>
              <a:rPr lang="en-US" b="1" u="sng" dirty="0"/>
              <a:t>Nessus Templates</a:t>
            </a:r>
            <a:br>
              <a:rPr lang="en-US" b="1" u="sng" dirty="0"/>
            </a:br>
            <a:endParaRPr lang="en-IN" b="1" u="sng" dirty="0"/>
          </a:p>
        </p:txBody>
      </p:sp>
      <p:pic>
        <p:nvPicPr>
          <p:cNvPr id="5" name="Content Placeholder 4">
            <a:extLst>
              <a:ext uri="{FF2B5EF4-FFF2-40B4-BE49-F238E27FC236}">
                <a16:creationId xmlns:a16="http://schemas.microsoft.com/office/drawing/2014/main" id="{5BDD95A7-8544-017B-80DE-7D3178304406}"/>
              </a:ext>
            </a:extLst>
          </p:cNvPr>
          <p:cNvPicPr>
            <a:picLocks noGrp="1" noChangeAspect="1"/>
          </p:cNvPicPr>
          <p:nvPr>
            <p:ph idx="1"/>
          </p:nvPr>
        </p:nvPicPr>
        <p:blipFill>
          <a:blip r:embed="rId2"/>
          <a:stretch>
            <a:fillRect/>
          </a:stretch>
        </p:blipFill>
        <p:spPr>
          <a:xfrm>
            <a:off x="1117018" y="2115898"/>
            <a:ext cx="8847551" cy="4359664"/>
          </a:xfrm>
        </p:spPr>
      </p:pic>
      <p:sp>
        <p:nvSpPr>
          <p:cNvPr id="6" name="Rectangle 1">
            <a:extLst>
              <a:ext uri="{FF2B5EF4-FFF2-40B4-BE49-F238E27FC236}">
                <a16:creationId xmlns:a16="http://schemas.microsoft.com/office/drawing/2014/main" id="{9D62A383-65BC-90F3-6BAC-7C0F8EFC7A0C}"/>
              </a:ext>
            </a:extLst>
          </p:cNvPr>
          <p:cNvSpPr>
            <a:spLocks noChangeArrowheads="1"/>
          </p:cNvSpPr>
          <p:nvPr/>
        </p:nvSpPr>
        <p:spPr bwMode="auto">
          <a:xfrm>
            <a:off x="0" y="-2308318"/>
            <a:ext cx="7346883" cy="461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solidFill>
                  <a:schemeClr val="tx1"/>
                </a:solidFill>
                <a:effectLst/>
                <a:latin typeface="Arial" panose="020B0604020202020204" pitchFamily="34" charset="0"/>
              </a:rPr>
              <a:t>Select the </a:t>
            </a:r>
            <a:r>
              <a:rPr kumimoji="0" lang="en-US" altLang="en-US" sz="2200" b="1" i="0" u="none" strike="noStrike" cap="none" normalizeH="0" baseline="0" dirty="0">
                <a:ln>
                  <a:noFill/>
                </a:ln>
                <a:solidFill>
                  <a:schemeClr val="tx1"/>
                </a:solidFill>
                <a:effectLst/>
                <a:latin typeface="Arial" panose="020B0604020202020204" pitchFamily="34" charset="0"/>
              </a:rPr>
              <a:t>type</a:t>
            </a:r>
            <a:r>
              <a:rPr kumimoji="0" lang="en-US" altLang="en-US" sz="2400" b="1" i="0" u="none" strike="noStrike" cap="none" normalizeH="0" baseline="0" dirty="0">
                <a:ln>
                  <a:noFill/>
                </a:ln>
                <a:solidFill>
                  <a:schemeClr val="tx1"/>
                </a:solidFill>
                <a:effectLst/>
                <a:latin typeface="Arial" panose="020B0604020202020204" pitchFamily="34" charset="0"/>
              </a:rPr>
              <a:t> of network scan to perform.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80865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FF2D1-0BBF-5F1F-3ADD-6BF73526494E}"/>
              </a:ext>
            </a:extLst>
          </p:cNvPr>
          <p:cNvSpPr>
            <a:spLocks noGrp="1"/>
          </p:cNvSpPr>
          <p:nvPr>
            <p:ph type="title"/>
          </p:nvPr>
        </p:nvSpPr>
        <p:spPr/>
        <p:txBody>
          <a:bodyPr/>
          <a:lstStyle/>
          <a:p>
            <a:r>
              <a:rPr lang="en-US" b="1" u="sng" dirty="0"/>
              <a:t>Network Scanning</a:t>
            </a:r>
            <a:br>
              <a:rPr lang="en-US" b="1" u="sng" dirty="0"/>
            </a:br>
            <a:endParaRPr lang="en-IN" b="1" u="sng" dirty="0"/>
          </a:p>
        </p:txBody>
      </p:sp>
      <p:pic>
        <p:nvPicPr>
          <p:cNvPr id="13" name="Content Placeholder 12">
            <a:extLst>
              <a:ext uri="{FF2B5EF4-FFF2-40B4-BE49-F238E27FC236}">
                <a16:creationId xmlns:a16="http://schemas.microsoft.com/office/drawing/2014/main" id="{84D76BAA-C14B-C039-113B-EDC2C777F933}"/>
              </a:ext>
            </a:extLst>
          </p:cNvPr>
          <p:cNvPicPr>
            <a:picLocks noGrp="1" noChangeAspect="1"/>
          </p:cNvPicPr>
          <p:nvPr>
            <p:ph idx="1"/>
          </p:nvPr>
        </p:nvPicPr>
        <p:blipFill>
          <a:blip r:embed="rId2"/>
          <a:stretch>
            <a:fillRect/>
          </a:stretch>
        </p:blipFill>
        <p:spPr>
          <a:xfrm>
            <a:off x="1362972" y="2018041"/>
            <a:ext cx="8528649" cy="4395152"/>
          </a:xfrm>
        </p:spPr>
      </p:pic>
      <p:sp>
        <p:nvSpPr>
          <p:cNvPr id="14" name="Rectangle 1">
            <a:extLst>
              <a:ext uri="{FF2B5EF4-FFF2-40B4-BE49-F238E27FC236}">
                <a16:creationId xmlns:a16="http://schemas.microsoft.com/office/drawing/2014/main" id="{2C8BF3A8-5E1D-88A3-35D0-EB5A5CAC92E2}"/>
              </a:ext>
            </a:extLst>
          </p:cNvPr>
          <p:cNvSpPr>
            <a:spLocks noChangeArrowheads="1"/>
          </p:cNvSpPr>
          <p:nvPr/>
        </p:nvSpPr>
        <p:spPr bwMode="auto">
          <a:xfrm>
            <a:off x="0" y="-1371834"/>
            <a:ext cx="10509800" cy="3200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            Name your scan, add a description, enter IP addresses, and launch the scan.</a:t>
            </a:r>
          </a:p>
        </p:txBody>
      </p:sp>
    </p:spTree>
    <p:extLst>
      <p:ext uri="{BB962C8B-B14F-4D97-AF65-F5344CB8AC3E}">
        <p14:creationId xmlns:p14="http://schemas.microsoft.com/office/powerpoint/2010/main" val="542381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96E7A-1D78-037F-9317-8D10C292B68E}"/>
              </a:ext>
            </a:extLst>
          </p:cNvPr>
          <p:cNvSpPr>
            <a:spLocks noGrp="1"/>
          </p:cNvSpPr>
          <p:nvPr>
            <p:ph type="title"/>
          </p:nvPr>
        </p:nvSpPr>
        <p:spPr>
          <a:xfrm>
            <a:off x="646111" y="452717"/>
            <a:ext cx="9404723" cy="2221471"/>
          </a:xfrm>
        </p:spPr>
        <p:txBody>
          <a:bodyPr/>
          <a:lstStyle/>
          <a:p>
            <a:r>
              <a:rPr lang="en-US" b="1" u="sng" dirty="0"/>
              <a:t>Scanning Process</a:t>
            </a:r>
            <a:br>
              <a:rPr lang="en-US" b="1" u="sng" dirty="0"/>
            </a:br>
            <a:br>
              <a:rPr lang="en-US" b="1" u="sng" dirty="0"/>
            </a:br>
            <a:endParaRPr lang="en-IN" b="1" u="sng" dirty="0"/>
          </a:p>
        </p:txBody>
      </p:sp>
      <p:pic>
        <p:nvPicPr>
          <p:cNvPr id="9" name="Content Placeholder 8">
            <a:extLst>
              <a:ext uri="{FF2B5EF4-FFF2-40B4-BE49-F238E27FC236}">
                <a16:creationId xmlns:a16="http://schemas.microsoft.com/office/drawing/2014/main" id="{15FD29D8-9390-DA54-ADFB-B361DD16F589}"/>
              </a:ext>
            </a:extLst>
          </p:cNvPr>
          <p:cNvPicPr>
            <a:picLocks noGrp="1" noChangeAspect="1"/>
          </p:cNvPicPr>
          <p:nvPr>
            <p:ph idx="1"/>
          </p:nvPr>
        </p:nvPicPr>
        <p:blipFill>
          <a:blip r:embed="rId2"/>
          <a:stretch>
            <a:fillRect/>
          </a:stretch>
        </p:blipFill>
        <p:spPr>
          <a:xfrm>
            <a:off x="1161691" y="2453774"/>
            <a:ext cx="9172754" cy="2635812"/>
          </a:xfrm>
        </p:spPr>
      </p:pic>
      <p:sp>
        <p:nvSpPr>
          <p:cNvPr id="12" name="Rectangle 1">
            <a:extLst>
              <a:ext uri="{FF2B5EF4-FFF2-40B4-BE49-F238E27FC236}">
                <a16:creationId xmlns:a16="http://schemas.microsoft.com/office/drawing/2014/main" id="{90EFDA16-4D3D-AD32-C7D4-8F09630B234C}"/>
              </a:ext>
            </a:extLst>
          </p:cNvPr>
          <p:cNvSpPr>
            <a:spLocks noChangeArrowheads="1"/>
          </p:cNvSpPr>
          <p:nvPr/>
        </p:nvSpPr>
        <p:spPr bwMode="auto">
          <a:xfrm>
            <a:off x="0" y="-1618054"/>
            <a:ext cx="11803231"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latin typeface="Arial" panose="020B0604020202020204" pitchFamily="34" charset="0"/>
              </a:rPr>
              <a:t>           </a:t>
            </a:r>
            <a:r>
              <a:rPr kumimoji="0" lang="en-US" altLang="en-US" b="1" i="0" u="none" strike="noStrike" cap="none" normalizeH="0" baseline="0" dirty="0">
                <a:ln>
                  <a:noFill/>
                </a:ln>
                <a:solidFill>
                  <a:schemeClr val="tx1"/>
                </a:solidFill>
                <a:effectLst/>
                <a:latin typeface="Arial" panose="020B0604020202020204" pitchFamily="34" charset="0"/>
              </a:rPr>
              <a:t>The scan is currently running and will take some time as it thoroughly checks all vulnerabilities in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latin typeface="Arial" panose="020B0604020202020204" pitchFamily="34" charset="0"/>
              </a:rPr>
              <a:t>            </a:t>
            </a:r>
            <a:r>
              <a:rPr kumimoji="0" lang="en-US" altLang="en-US" b="1" i="0" u="none" strike="noStrike" cap="none" normalizeH="0" baseline="0" dirty="0">
                <a:ln>
                  <a:noFill/>
                </a:ln>
                <a:solidFill>
                  <a:schemeClr val="tx1"/>
                </a:solidFill>
                <a:effectLst/>
                <a:latin typeface="Arial" panose="020B0604020202020204" pitchFamily="34" charset="0"/>
              </a:rPr>
              <a:t>the network IP address.</a:t>
            </a:r>
          </a:p>
        </p:txBody>
      </p:sp>
    </p:spTree>
    <p:extLst>
      <p:ext uri="{BB962C8B-B14F-4D97-AF65-F5344CB8AC3E}">
        <p14:creationId xmlns:p14="http://schemas.microsoft.com/office/powerpoint/2010/main" val="29170689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7A070-7FE9-2814-F923-08975D4BF85F}"/>
              </a:ext>
            </a:extLst>
          </p:cNvPr>
          <p:cNvSpPr>
            <a:spLocks noGrp="1"/>
          </p:cNvSpPr>
          <p:nvPr>
            <p:ph type="title"/>
          </p:nvPr>
        </p:nvSpPr>
        <p:spPr/>
        <p:txBody>
          <a:bodyPr/>
          <a:lstStyle/>
          <a:p>
            <a:r>
              <a:rPr lang="en-US" b="1" u="sng" dirty="0"/>
              <a:t>Result</a:t>
            </a:r>
            <a:br>
              <a:rPr lang="en-US" b="1" u="sng" dirty="0"/>
            </a:br>
            <a:endParaRPr lang="en-IN" b="1" u="sng" dirty="0"/>
          </a:p>
        </p:txBody>
      </p:sp>
      <p:pic>
        <p:nvPicPr>
          <p:cNvPr id="13" name="Content Placeholder 12">
            <a:extLst>
              <a:ext uri="{FF2B5EF4-FFF2-40B4-BE49-F238E27FC236}">
                <a16:creationId xmlns:a16="http://schemas.microsoft.com/office/drawing/2014/main" id="{7DFF2023-A46C-FC71-B980-01298A79D77E}"/>
              </a:ext>
            </a:extLst>
          </p:cNvPr>
          <p:cNvPicPr>
            <a:picLocks noGrp="1" noChangeAspect="1"/>
          </p:cNvPicPr>
          <p:nvPr>
            <p:ph idx="1"/>
          </p:nvPr>
        </p:nvPicPr>
        <p:blipFill>
          <a:blip r:embed="rId2"/>
          <a:stretch>
            <a:fillRect/>
          </a:stretch>
        </p:blipFill>
        <p:spPr>
          <a:xfrm>
            <a:off x="1580001" y="2209520"/>
            <a:ext cx="8223809" cy="4195762"/>
          </a:xfrm>
        </p:spPr>
      </p:pic>
      <p:sp>
        <p:nvSpPr>
          <p:cNvPr id="14" name="Rectangle 1">
            <a:extLst>
              <a:ext uri="{FF2B5EF4-FFF2-40B4-BE49-F238E27FC236}">
                <a16:creationId xmlns:a16="http://schemas.microsoft.com/office/drawing/2014/main" id="{A6991D41-B932-262B-4897-E47456983957}"/>
              </a:ext>
            </a:extLst>
          </p:cNvPr>
          <p:cNvSpPr>
            <a:spLocks noChangeArrowheads="1"/>
          </p:cNvSpPr>
          <p:nvPr/>
        </p:nvSpPr>
        <p:spPr bwMode="auto">
          <a:xfrm>
            <a:off x="0" y="-1494944"/>
            <a:ext cx="8934049" cy="3447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View the pie chart and then proceed to the vulnerabilities section.</a:t>
            </a:r>
          </a:p>
        </p:txBody>
      </p:sp>
    </p:spTree>
    <p:extLst>
      <p:ext uri="{BB962C8B-B14F-4D97-AF65-F5344CB8AC3E}">
        <p14:creationId xmlns:p14="http://schemas.microsoft.com/office/powerpoint/2010/main" val="30013742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6E3AF-ED01-E71D-2D54-252228DDBA89}"/>
              </a:ext>
            </a:extLst>
          </p:cNvPr>
          <p:cNvSpPr>
            <a:spLocks noGrp="1"/>
          </p:cNvSpPr>
          <p:nvPr>
            <p:ph type="title"/>
          </p:nvPr>
        </p:nvSpPr>
        <p:spPr/>
        <p:txBody>
          <a:bodyPr/>
          <a:lstStyle/>
          <a:p>
            <a:r>
              <a:rPr lang="en-US" b="1" u="sng" dirty="0"/>
              <a:t>Advantages</a:t>
            </a:r>
            <a:endParaRPr lang="en-IN" b="1" u="sng" dirty="0"/>
          </a:p>
        </p:txBody>
      </p:sp>
      <p:sp>
        <p:nvSpPr>
          <p:cNvPr id="4" name="Rectangle 1">
            <a:extLst>
              <a:ext uri="{FF2B5EF4-FFF2-40B4-BE49-F238E27FC236}">
                <a16:creationId xmlns:a16="http://schemas.microsoft.com/office/drawing/2014/main" id="{9039BB45-AC9C-F514-E294-0933A1AF6AE2}"/>
              </a:ext>
            </a:extLst>
          </p:cNvPr>
          <p:cNvSpPr>
            <a:spLocks noGrp="1" noChangeArrowheads="1"/>
          </p:cNvSpPr>
          <p:nvPr>
            <p:ph idx="1"/>
          </p:nvPr>
        </p:nvSpPr>
        <p:spPr bwMode="auto">
          <a:xfrm>
            <a:off x="697868" y="1261559"/>
            <a:ext cx="9145452" cy="2954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Highly accurate scanning with minimal false positives.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Comprehensive scanning features.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Scalable to hundreds of thousands of systems.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Easy to deploy and maintain.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Low administration and operation costs.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Full coverage with agents, including laptops and mobile devices.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286387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D2EBD-CD69-A597-B6DD-A25D8056E401}"/>
              </a:ext>
            </a:extLst>
          </p:cNvPr>
          <p:cNvSpPr>
            <a:spLocks noGrp="1"/>
          </p:cNvSpPr>
          <p:nvPr>
            <p:ph type="title"/>
          </p:nvPr>
        </p:nvSpPr>
        <p:spPr>
          <a:xfrm>
            <a:off x="416072" y="349201"/>
            <a:ext cx="9404723" cy="1400530"/>
          </a:xfrm>
        </p:spPr>
        <p:txBody>
          <a:bodyPr/>
          <a:lstStyle/>
          <a:p>
            <a:r>
              <a:rPr lang="en-US" b="1" u="sng" dirty="0"/>
              <a:t>Solution Overview</a:t>
            </a:r>
            <a:endParaRPr lang="en-IN" b="1" u="sng" dirty="0"/>
          </a:p>
        </p:txBody>
      </p:sp>
      <p:sp>
        <p:nvSpPr>
          <p:cNvPr id="3" name="Content Placeholder 2">
            <a:extLst>
              <a:ext uri="{FF2B5EF4-FFF2-40B4-BE49-F238E27FC236}">
                <a16:creationId xmlns:a16="http://schemas.microsoft.com/office/drawing/2014/main" id="{76FD0CA3-42BE-6326-DC22-04F419591322}"/>
              </a:ext>
            </a:extLst>
          </p:cNvPr>
          <p:cNvSpPr>
            <a:spLocks noGrp="1"/>
          </p:cNvSpPr>
          <p:nvPr>
            <p:ph idx="1"/>
          </p:nvPr>
        </p:nvSpPr>
        <p:spPr>
          <a:xfrm>
            <a:off x="1103312" y="1535502"/>
            <a:ext cx="8946541" cy="4712897"/>
          </a:xfrm>
        </p:spPr>
        <p:txBody>
          <a:bodyPr>
            <a:normAutofit/>
          </a:bodyPr>
          <a:lstStyle/>
          <a:p>
            <a:r>
              <a:rPr lang="en-US" sz="2400" dirty="0"/>
              <a:t>Nessus addresses these challenges by providing: Comprehensive vulnerability scanning capabilities, including active and passive scanning techniques, to identify known and emerging threats. Prioritization of vulnerabilities based on severity, exploitability, and potential impact, enabling organizations to focus on addressing the most critical risks first. Integration with third-party tools and platforms for automated remediation, workflow orchestration, and reporting.</a:t>
            </a:r>
            <a:endParaRPr lang="en-IN" sz="2400" dirty="0"/>
          </a:p>
        </p:txBody>
      </p:sp>
    </p:spTree>
    <p:extLst>
      <p:ext uri="{BB962C8B-B14F-4D97-AF65-F5344CB8AC3E}">
        <p14:creationId xmlns:p14="http://schemas.microsoft.com/office/powerpoint/2010/main" val="37259830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CC52E-C738-3396-A851-DABE2FC4B375}"/>
              </a:ext>
            </a:extLst>
          </p:cNvPr>
          <p:cNvSpPr>
            <a:spLocks noGrp="1"/>
          </p:cNvSpPr>
          <p:nvPr>
            <p:ph type="title"/>
          </p:nvPr>
        </p:nvSpPr>
        <p:spPr/>
        <p:txBody>
          <a:bodyPr/>
          <a:lstStyle/>
          <a:p>
            <a:r>
              <a:rPr lang="en-US" sz="4400" b="1" u="sng" dirty="0"/>
              <a:t>Key Features and Benefits</a:t>
            </a:r>
            <a:endParaRPr lang="en-IN" b="1" u="sng" dirty="0"/>
          </a:p>
        </p:txBody>
      </p:sp>
      <p:sp>
        <p:nvSpPr>
          <p:cNvPr id="3" name="Content Placeholder 2">
            <a:extLst>
              <a:ext uri="{FF2B5EF4-FFF2-40B4-BE49-F238E27FC236}">
                <a16:creationId xmlns:a16="http://schemas.microsoft.com/office/drawing/2014/main" id="{119C011E-9645-927A-18EE-90B96E5F7385}"/>
              </a:ext>
            </a:extLst>
          </p:cNvPr>
          <p:cNvSpPr>
            <a:spLocks noGrp="1"/>
          </p:cNvSpPr>
          <p:nvPr>
            <p:ph idx="1"/>
          </p:nvPr>
        </p:nvSpPr>
        <p:spPr>
          <a:xfrm>
            <a:off x="1103312" y="1547004"/>
            <a:ext cx="8946541" cy="4701396"/>
          </a:xfrm>
        </p:spPr>
        <p:txBody>
          <a:bodyPr>
            <a:normAutofit/>
          </a:bodyPr>
          <a:lstStyle/>
          <a:p>
            <a:pPr>
              <a:buFont typeface="Arial" panose="020B0604020202020204" pitchFamily="34" charset="0"/>
              <a:buChar char="•"/>
            </a:pPr>
            <a:r>
              <a:rPr lang="en-US" sz="2200" b="1" u="sng" dirty="0"/>
              <a:t>Vulnerability Detection</a:t>
            </a:r>
            <a:r>
              <a:rPr lang="en-US" sz="2200" u="sng" dirty="0"/>
              <a:t>: </a:t>
            </a:r>
            <a:r>
              <a:rPr lang="en-US" sz="2200" dirty="0"/>
              <a:t>Nessus scans IT assets for known vulnerabilities, misconfigurations, and security weaknesses, providing organizations with actionable insights into their security posture. </a:t>
            </a:r>
          </a:p>
          <a:p>
            <a:pPr>
              <a:buFont typeface="Arial" panose="020B0604020202020204" pitchFamily="34" charset="0"/>
              <a:buChar char="•"/>
            </a:pPr>
            <a:r>
              <a:rPr lang="en-US" sz="2200" b="1" u="sng" dirty="0"/>
              <a:t>Compliance Auditing</a:t>
            </a:r>
            <a:r>
              <a:rPr lang="en-US" sz="2200" u="sng" dirty="0"/>
              <a:t>: </a:t>
            </a:r>
            <a:r>
              <a:rPr lang="en-US" sz="2200" dirty="0"/>
              <a:t>The tool supports compliance auditing against a wide range of regulatory standards and industry best practices, facilitating compliance efforts and regulatory reporting. </a:t>
            </a:r>
          </a:p>
          <a:p>
            <a:pPr>
              <a:buFont typeface="Arial" panose="020B0604020202020204" pitchFamily="34" charset="0"/>
              <a:buChar char="•"/>
            </a:pPr>
            <a:r>
              <a:rPr lang="en-US" sz="2200" b="1" u="sng" dirty="0"/>
              <a:t>Risk Prioritization</a:t>
            </a:r>
            <a:r>
              <a:rPr lang="en-US" sz="2200" u="sng" dirty="0"/>
              <a:t>: </a:t>
            </a:r>
            <a:r>
              <a:rPr lang="en-US" sz="2200" dirty="0"/>
              <a:t>Nessus categorizes vulnerabilities based on their severity and potential impact on the organization, allowing security teams to prioritize remediation efforts effectively. </a:t>
            </a:r>
          </a:p>
        </p:txBody>
      </p:sp>
    </p:spTree>
    <p:extLst>
      <p:ext uri="{BB962C8B-B14F-4D97-AF65-F5344CB8AC3E}">
        <p14:creationId xmlns:p14="http://schemas.microsoft.com/office/powerpoint/2010/main" val="41988731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9AF4F-4722-2C57-EB2A-70BF38999C2B}"/>
              </a:ext>
            </a:extLst>
          </p:cNvPr>
          <p:cNvSpPr>
            <a:spLocks noGrp="1"/>
          </p:cNvSpPr>
          <p:nvPr>
            <p:ph type="title"/>
          </p:nvPr>
        </p:nvSpPr>
        <p:spPr/>
        <p:txBody>
          <a:bodyPr/>
          <a:lstStyle/>
          <a:p>
            <a:r>
              <a:rPr lang="en-US" sz="4000" b="1" u="sng" dirty="0"/>
              <a:t>Key Features and Benefits</a:t>
            </a:r>
            <a:endParaRPr lang="en-IN" b="1" u="sng" dirty="0"/>
          </a:p>
        </p:txBody>
      </p:sp>
      <p:sp>
        <p:nvSpPr>
          <p:cNvPr id="3" name="Content Placeholder 2">
            <a:extLst>
              <a:ext uri="{FF2B5EF4-FFF2-40B4-BE49-F238E27FC236}">
                <a16:creationId xmlns:a16="http://schemas.microsoft.com/office/drawing/2014/main" id="{08A63548-837F-38CD-4959-D830D240B201}"/>
              </a:ext>
            </a:extLst>
          </p:cNvPr>
          <p:cNvSpPr>
            <a:spLocks noGrp="1"/>
          </p:cNvSpPr>
          <p:nvPr>
            <p:ph idx="1"/>
          </p:nvPr>
        </p:nvSpPr>
        <p:spPr>
          <a:xfrm>
            <a:off x="1103312" y="1495244"/>
            <a:ext cx="8946541" cy="4753155"/>
          </a:xfrm>
        </p:spPr>
        <p:txBody>
          <a:bodyPr/>
          <a:lstStyle/>
          <a:p>
            <a:pPr>
              <a:buFont typeface="Arial" panose="020B0604020202020204" pitchFamily="34" charset="0"/>
              <a:buChar char="•"/>
            </a:pPr>
            <a:r>
              <a:rPr lang="en-US" sz="2400" b="1" u="sng" dirty="0"/>
              <a:t>Scalability</a:t>
            </a:r>
            <a:r>
              <a:rPr lang="en-US" sz="2400" u="sng" dirty="0"/>
              <a:t>:</a:t>
            </a:r>
            <a:r>
              <a:rPr lang="en-US" sz="2400" dirty="0"/>
              <a:t> With support for distributed scanning and centralized management, Nessus scales to meet the needs of organizations of all sizes, from small businesses to large enterprises. </a:t>
            </a:r>
          </a:p>
          <a:p>
            <a:pPr>
              <a:buFont typeface="Arial" panose="020B0604020202020204" pitchFamily="34" charset="0"/>
              <a:buChar char="•"/>
            </a:pPr>
            <a:r>
              <a:rPr lang="en-US" sz="2400" b="1" u="sng" dirty="0"/>
              <a:t>Integration</a:t>
            </a:r>
            <a:r>
              <a:rPr lang="en-US" sz="2400" u="sng" dirty="0"/>
              <a:t>:</a:t>
            </a:r>
            <a:r>
              <a:rPr lang="en-US" sz="2400" dirty="0"/>
              <a:t> Nessus integrates with security information and event management (SIEM) systems, ticketing systems, and other security tools, enabling seamless workflow integration and automation.</a:t>
            </a:r>
            <a:endParaRPr lang="en-IN" sz="2400" dirty="0"/>
          </a:p>
          <a:p>
            <a:endParaRPr lang="en-IN" dirty="0"/>
          </a:p>
        </p:txBody>
      </p:sp>
    </p:spTree>
    <p:extLst>
      <p:ext uri="{BB962C8B-B14F-4D97-AF65-F5344CB8AC3E}">
        <p14:creationId xmlns:p14="http://schemas.microsoft.com/office/powerpoint/2010/main" val="27003857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94652-EC49-56F9-AC3D-A6587D3EDF0D}"/>
              </a:ext>
            </a:extLst>
          </p:cNvPr>
          <p:cNvSpPr>
            <a:spLocks noGrp="1"/>
          </p:cNvSpPr>
          <p:nvPr>
            <p:ph type="title"/>
          </p:nvPr>
        </p:nvSpPr>
        <p:spPr/>
        <p:txBody>
          <a:bodyPr/>
          <a:lstStyle/>
          <a:p>
            <a:r>
              <a:rPr lang="en-US" b="1" u="sng" dirty="0"/>
              <a:t>Use Cases</a:t>
            </a:r>
            <a:endParaRPr lang="en-IN" b="1" u="sng" dirty="0"/>
          </a:p>
        </p:txBody>
      </p:sp>
      <p:sp>
        <p:nvSpPr>
          <p:cNvPr id="3" name="Content Placeholder 2">
            <a:extLst>
              <a:ext uri="{FF2B5EF4-FFF2-40B4-BE49-F238E27FC236}">
                <a16:creationId xmlns:a16="http://schemas.microsoft.com/office/drawing/2014/main" id="{343BB9D2-F992-80BB-0C4C-C4B5066FB157}"/>
              </a:ext>
            </a:extLst>
          </p:cNvPr>
          <p:cNvSpPr>
            <a:spLocks noGrp="1"/>
          </p:cNvSpPr>
          <p:nvPr>
            <p:ph idx="1"/>
          </p:nvPr>
        </p:nvSpPr>
        <p:spPr>
          <a:xfrm>
            <a:off x="1103312" y="1466492"/>
            <a:ext cx="8946541" cy="4781908"/>
          </a:xfrm>
        </p:spPr>
        <p:txBody>
          <a:bodyPr>
            <a:normAutofit/>
          </a:bodyPr>
          <a:lstStyle/>
          <a:p>
            <a:r>
              <a:rPr lang="en-US" b="1" u="sng" dirty="0"/>
              <a:t>Vulnerability Management</a:t>
            </a:r>
            <a:r>
              <a:rPr lang="en-US" u="sng" dirty="0"/>
              <a:t>: </a:t>
            </a:r>
            <a:r>
              <a:rPr lang="en-US" dirty="0"/>
              <a:t>Nessus is essential for organizations seeking to proactively manage and mitigate security vulnerabilities across their IT infrastructure, reducing the risk of exploitation and data breaches. </a:t>
            </a:r>
          </a:p>
          <a:p>
            <a:r>
              <a:rPr lang="en-US" b="1" u="sng" dirty="0"/>
              <a:t>Penetration Testing</a:t>
            </a:r>
            <a:r>
              <a:rPr lang="en-US" u="sng" dirty="0"/>
              <a:t>: </a:t>
            </a:r>
            <a:r>
              <a:rPr lang="en-US" dirty="0"/>
              <a:t>As part of a comprehensive security testing program, Nessus can be used to identify potential entry points for attackers and validate the effectiveness of security controls. </a:t>
            </a:r>
          </a:p>
          <a:p>
            <a:r>
              <a:rPr lang="en-US" b="1" u="sng" dirty="0"/>
              <a:t>Compliance Reporting</a:t>
            </a:r>
            <a:r>
              <a:rPr lang="en-US" u="sng" dirty="0"/>
              <a:t>: </a:t>
            </a:r>
            <a:r>
              <a:rPr lang="en-US" dirty="0"/>
              <a:t>Nessus generates detailed reports highlighting compliance status, gaps, and recommendations for remediation, supporting regulatory compliance efforts and audit requirements. </a:t>
            </a:r>
          </a:p>
          <a:p>
            <a:r>
              <a:rPr lang="en-US" b="1" u="sng" dirty="0"/>
              <a:t>Asset Discovery</a:t>
            </a:r>
            <a:r>
              <a:rPr lang="en-US" u="sng" dirty="0"/>
              <a:t>: </a:t>
            </a:r>
            <a:r>
              <a:rPr lang="en-US" dirty="0"/>
              <a:t>Nessus helps organizations discover and inventory IT assets within their environment, providing visibility into potential blind spots and shadow IT infrastructure. </a:t>
            </a:r>
            <a:endParaRPr lang="en-IN" dirty="0"/>
          </a:p>
        </p:txBody>
      </p:sp>
    </p:spTree>
    <p:extLst>
      <p:ext uri="{BB962C8B-B14F-4D97-AF65-F5344CB8AC3E}">
        <p14:creationId xmlns:p14="http://schemas.microsoft.com/office/powerpoint/2010/main" val="9605100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87DDD-DA3E-D74A-8F81-5D3107C27B3F}"/>
              </a:ext>
            </a:extLst>
          </p:cNvPr>
          <p:cNvSpPr>
            <a:spLocks noGrp="1"/>
          </p:cNvSpPr>
          <p:nvPr>
            <p:ph type="title"/>
          </p:nvPr>
        </p:nvSpPr>
        <p:spPr/>
        <p:txBody>
          <a:bodyPr/>
          <a:lstStyle/>
          <a:p>
            <a:r>
              <a:rPr lang="en-US" b="1" u="sng" dirty="0"/>
              <a:t>Return on Investment (ROI)</a:t>
            </a:r>
            <a:endParaRPr lang="en-IN" b="1" u="sng" dirty="0"/>
          </a:p>
        </p:txBody>
      </p:sp>
      <p:sp>
        <p:nvSpPr>
          <p:cNvPr id="3" name="Content Placeholder 2">
            <a:extLst>
              <a:ext uri="{FF2B5EF4-FFF2-40B4-BE49-F238E27FC236}">
                <a16:creationId xmlns:a16="http://schemas.microsoft.com/office/drawing/2014/main" id="{68D43E56-CED9-6005-81C3-A8F3553A5528}"/>
              </a:ext>
            </a:extLst>
          </p:cNvPr>
          <p:cNvSpPr>
            <a:spLocks noGrp="1"/>
          </p:cNvSpPr>
          <p:nvPr>
            <p:ph idx="1"/>
          </p:nvPr>
        </p:nvSpPr>
        <p:spPr>
          <a:xfrm>
            <a:off x="1103312" y="1621766"/>
            <a:ext cx="8946541" cy="4626634"/>
          </a:xfrm>
        </p:spPr>
        <p:txBody>
          <a:bodyPr/>
          <a:lstStyle/>
          <a:p>
            <a:pPr>
              <a:buFont typeface="Arial" panose="020B0604020202020204" pitchFamily="34" charset="0"/>
              <a:buChar char="•"/>
            </a:pPr>
            <a:r>
              <a:rPr lang="en-US" b="1" u="sng" dirty="0"/>
              <a:t>Risk Reduction</a:t>
            </a:r>
            <a:r>
              <a:rPr lang="en-US" u="sng" dirty="0"/>
              <a:t>: </a:t>
            </a:r>
            <a:r>
              <a:rPr lang="en-US" dirty="0"/>
              <a:t>By identifying and remediating vulnerabilities proactively, Nessus helps organizations minimize the likelihood and impact of security breaches, reducing the associated financial and reputational risks. </a:t>
            </a:r>
          </a:p>
          <a:p>
            <a:pPr>
              <a:buFont typeface="Arial" panose="020B0604020202020204" pitchFamily="34" charset="0"/>
              <a:buChar char="•"/>
            </a:pPr>
            <a:r>
              <a:rPr lang="en-US" b="1" u="sng" dirty="0"/>
              <a:t>Operational Efficiency</a:t>
            </a:r>
            <a:r>
              <a:rPr lang="en-US" u="sng" dirty="0"/>
              <a:t>: </a:t>
            </a:r>
            <a:r>
              <a:rPr lang="en-US" dirty="0"/>
              <a:t>The automation capabilities of Nessus streamline the vulnerability management process, enabling security teams to assess, prioritize, and remediate vulnerabilities more efficiently, thereby reducing operational overhead and costs. </a:t>
            </a:r>
          </a:p>
          <a:p>
            <a:pPr>
              <a:buFont typeface="Arial" panose="020B0604020202020204" pitchFamily="34" charset="0"/>
              <a:buChar char="•"/>
            </a:pPr>
            <a:r>
              <a:rPr lang="en-US" b="1" u="sng" dirty="0"/>
              <a:t>Compliance Assurance</a:t>
            </a:r>
            <a:r>
              <a:rPr lang="en-US" u="sng" dirty="0"/>
              <a:t>: </a:t>
            </a:r>
            <a:r>
              <a:rPr lang="en-US" dirty="0"/>
              <a:t>Nessus assists organizations in maintaining compliance with regulatory requirements and industry standards, avoiding non-compliance penalties and fines.</a:t>
            </a:r>
            <a:endParaRPr lang="en-IN" dirty="0"/>
          </a:p>
        </p:txBody>
      </p:sp>
    </p:spTree>
    <p:extLst>
      <p:ext uri="{BB962C8B-B14F-4D97-AF65-F5344CB8AC3E}">
        <p14:creationId xmlns:p14="http://schemas.microsoft.com/office/powerpoint/2010/main" val="9616361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59067-8DCB-D20B-FA01-110C97D45A7A}"/>
              </a:ext>
            </a:extLst>
          </p:cNvPr>
          <p:cNvSpPr>
            <a:spLocks noGrp="1"/>
          </p:cNvSpPr>
          <p:nvPr>
            <p:ph type="title"/>
          </p:nvPr>
        </p:nvSpPr>
        <p:spPr/>
        <p:txBody>
          <a:bodyPr/>
          <a:lstStyle/>
          <a:p>
            <a:r>
              <a:rPr lang="en-US" b="1" u="sng" dirty="0"/>
              <a:t>Conclusion</a:t>
            </a:r>
            <a:endParaRPr lang="en-IN" b="1" u="sng" dirty="0"/>
          </a:p>
        </p:txBody>
      </p:sp>
      <p:sp>
        <p:nvSpPr>
          <p:cNvPr id="3" name="Content Placeholder 2">
            <a:extLst>
              <a:ext uri="{FF2B5EF4-FFF2-40B4-BE49-F238E27FC236}">
                <a16:creationId xmlns:a16="http://schemas.microsoft.com/office/drawing/2014/main" id="{555D7A49-D191-7655-8D77-99C486DF71B3}"/>
              </a:ext>
            </a:extLst>
          </p:cNvPr>
          <p:cNvSpPr>
            <a:spLocks noGrp="1"/>
          </p:cNvSpPr>
          <p:nvPr>
            <p:ph idx="1"/>
          </p:nvPr>
        </p:nvSpPr>
        <p:spPr>
          <a:xfrm>
            <a:off x="1103312" y="1483744"/>
            <a:ext cx="8946541" cy="4764656"/>
          </a:xfrm>
        </p:spPr>
        <p:txBody>
          <a:bodyPr>
            <a:normAutofit/>
          </a:bodyPr>
          <a:lstStyle/>
          <a:p>
            <a:r>
              <a:rPr lang="en-US" sz="2200" dirty="0"/>
              <a:t>In conclusion, Nessus is a valuable asset for organizations committed to maintaining a strong security posture and protecting their IT infrastructure from cyber threats. By providing comprehensive vulnerability assessment capabilities, risk prioritization, and compliance auditing features, Nessus empowers organizations to identify, manage, and mitigate security vulnerabilities effectively. Investing in Nessus is not just an expenditure but a strategic decision to enhance cyber resilience, safeguard sensitive data, and maintain stakeholder trust in an increasingly hostile cyber landscape.</a:t>
            </a:r>
            <a:endParaRPr lang="en-IN" sz="2200" dirty="0"/>
          </a:p>
        </p:txBody>
      </p:sp>
    </p:spTree>
    <p:extLst>
      <p:ext uri="{BB962C8B-B14F-4D97-AF65-F5344CB8AC3E}">
        <p14:creationId xmlns:p14="http://schemas.microsoft.com/office/powerpoint/2010/main" val="24513436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FA11E85-4AE5-7FC7-3158-153CFDC77F2D}"/>
              </a:ext>
            </a:extLst>
          </p:cNvPr>
          <p:cNvSpPr>
            <a:spLocks noGrp="1"/>
          </p:cNvSpPr>
          <p:nvPr>
            <p:ph type="title"/>
          </p:nvPr>
        </p:nvSpPr>
        <p:spPr>
          <a:xfrm>
            <a:off x="1154956" y="730371"/>
            <a:ext cx="8825657" cy="3065252"/>
          </a:xfrm>
        </p:spPr>
        <p:txBody>
          <a:bodyPr/>
          <a:lstStyle/>
          <a:p>
            <a:r>
              <a:rPr lang="en-US" dirty="0"/>
              <a:t>                   </a:t>
            </a:r>
            <a:br>
              <a:rPr lang="en-US" dirty="0"/>
            </a:br>
            <a:br>
              <a:rPr lang="en-US" dirty="0"/>
            </a:br>
            <a:r>
              <a:rPr lang="en-US" dirty="0"/>
              <a:t>                    </a:t>
            </a:r>
            <a:r>
              <a:rPr lang="en-US" sz="4800" dirty="0"/>
              <a:t>THANK YOU</a:t>
            </a:r>
            <a:endParaRPr lang="en-IN" sz="4800" dirty="0"/>
          </a:p>
        </p:txBody>
      </p:sp>
    </p:spTree>
    <p:extLst>
      <p:ext uri="{BB962C8B-B14F-4D97-AF65-F5344CB8AC3E}">
        <p14:creationId xmlns:p14="http://schemas.microsoft.com/office/powerpoint/2010/main" val="74440258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docProps/app.xml><?xml version="1.0" encoding="utf-8"?>
<Properties xmlns="http://schemas.openxmlformats.org/officeDocument/2006/extended-properties" xmlns:vt="http://schemas.openxmlformats.org/officeDocument/2006/docPropsVTypes">
  <Template>Ion</Template>
  <TotalTime>413</TotalTime>
  <Words>1023</Words>
  <Application>Microsoft Office PowerPoint</Application>
  <PresentationFormat>Widescreen</PresentationFormat>
  <Paragraphs>159</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Ion</vt:lpstr>
      <vt:lpstr>Nessus</vt:lpstr>
      <vt:lpstr>Introduction</vt:lpstr>
      <vt:lpstr>Introduction</vt:lpstr>
      <vt:lpstr>Problem Statement</vt:lpstr>
      <vt:lpstr>Hardware Requirement</vt:lpstr>
      <vt:lpstr>Download &amp; Installation</vt:lpstr>
      <vt:lpstr>Key Functions</vt:lpstr>
      <vt:lpstr>Scanning Process  Click on new scan to start the vulnerability scan. </vt:lpstr>
      <vt:lpstr>Nessus Templates </vt:lpstr>
      <vt:lpstr>Network Scanning </vt:lpstr>
      <vt:lpstr>Scanning Process  </vt:lpstr>
      <vt:lpstr>Result </vt:lpstr>
      <vt:lpstr>Advantages</vt:lpstr>
      <vt:lpstr>Solution Overview</vt:lpstr>
      <vt:lpstr>Key Features and Benefits</vt:lpstr>
      <vt:lpstr>Key Features and Benefits</vt:lpstr>
      <vt:lpstr>Use Cases</vt:lpstr>
      <vt:lpstr>Return on Investment (ROI)</vt:lpstr>
      <vt:lpstr>Conclusion</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Nessus</dc:title>
  <dc:creator>Sri Puri Jagannadh Ulapalli</dc:creator>
  <cp:lastModifiedBy>Sri Puri Jagannadh Ulapalli</cp:lastModifiedBy>
  <cp:revision>3</cp:revision>
  <dcterms:created xsi:type="dcterms:W3CDTF">2025-11-09T07:04:56Z</dcterms:created>
  <dcterms:modified xsi:type="dcterms:W3CDTF">2025-11-25T03:48:21Z</dcterms:modified>
</cp:coreProperties>
</file>